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966960" y="457200"/>
            <a:ext cx="1280160" cy="1280160"/>
          </a:xfrm>
          <a:prstGeom prst="ellipse">
            <a:avLst/>
          </a:prstGeom>
          <a:solidFill>
            <a:srgbClr val="D3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89920" y="1463040"/>
            <a:ext cx="731520" cy="731520"/>
          </a:xfrm>
          <a:prstGeom prst="ellipse">
            <a:avLst/>
          </a:prstGeom>
          <a:solidFill>
            <a:srgbClr val="D6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5394960"/>
            <a:ext cx="914400" cy="914400"/>
          </a:xfrm>
          <a:prstGeom prst="ellipse">
            <a:avLst/>
          </a:prstGeom>
          <a:solidFill>
            <a:srgbClr val="FA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875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373948"/>
                </a:solidFill>
                <a:latin typeface="Aptos Display"/>
              </a:defRPr>
            </a:pPr>
            <a:r>
              <a:t>Design and Simulation of a</a:t>
            </a:r>
            <a:br/>
            <a:r>
              <a:t>Smart Parking Slot Availability</a:t>
            </a:r>
            <a:br/>
            <a:r>
              <a:t>and Entry Control System</a:t>
            </a:r>
          </a:p>
          <a:p>
            <a:pPr>
              <a:defRPr sz="1700">
                <a:solidFill>
                  <a:srgbClr val="696C7D"/>
                </a:solidFill>
                <a:latin typeface="Aptos"/>
              </a:defRPr>
            </a:pPr>
            <a:r>
              <a:t>A simple IoT-based approach to make parking easier, faster and more organized.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3886200"/>
            <a:ext cx="1188720" cy="640080"/>
          </a:xfrm>
          <a:prstGeom prst="roundRect">
            <a:avLst/>
          </a:prstGeom>
          <a:solidFill>
            <a:srgbClr val="FAE1D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3948"/>
                </a:solidFill>
                <a:latin typeface="Aptos"/>
              </a:defRPr>
            </a:pPr>
            <a:r>
              <a:t>Car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3886200"/>
            <a:ext cx="1188720" cy="640080"/>
          </a:xfrm>
          <a:prstGeom prst="roundRect">
            <a:avLst/>
          </a:prstGeom>
          <a:solidFill>
            <a:srgbClr val="D3E7F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3948"/>
                </a:solidFill>
                <a:latin typeface="Aptos"/>
              </a:defRPr>
            </a:pPr>
            <a:r>
              <a:t>Sensor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98480" y="3886200"/>
            <a:ext cx="914400" cy="640080"/>
          </a:xfrm>
          <a:prstGeom prst="roundRect">
            <a:avLst/>
          </a:prstGeom>
          <a:solidFill>
            <a:srgbClr val="D6EFE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3948"/>
                </a:solidFill>
                <a:latin typeface="Aptos"/>
              </a:defRPr>
            </a:pPr>
            <a:r>
              <a:t>Gate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0" y="4206240"/>
            <a:ext cx="182880" cy="0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515600" y="4206240"/>
            <a:ext cx="182880" cy="0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C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948"/>
                </a:solidFill>
                <a:latin typeface="Aptos Display"/>
              </a:defRPr>
            </a:pPr>
            <a:r>
              <a:t>Why do we need smart parking?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C7D"/>
                </a:solidFill>
                <a:latin typeface="Aptos"/>
              </a:defRPr>
            </a:pPr>
            <a:r>
              <a:t>The problem is not only finding a space — it is also managing entry and exit smoothly.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1874519"/>
          </a:xfrm>
          <a:prstGeom prst="roundRect">
            <a:avLst/>
          </a:prstGeom>
          <a:solidFill>
            <a:srgbClr val="FAE1D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🚗 Time wasted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Drivers often circle around looking for an empty slot, especially during busy hours.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17320"/>
            <a:ext cx="3429000" cy="1874519"/>
          </a:xfrm>
          <a:prstGeom prst="roundRect">
            <a:avLst/>
          </a:prstGeom>
          <a:solidFill>
            <a:srgbClr val="D3E7F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🔎 No live information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A driver may not know which slots are free until reaching the parking area.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17320"/>
            <a:ext cx="3429000" cy="1874519"/>
          </a:xfrm>
          <a:prstGeom prst="roundRect">
            <a:avLst/>
          </a:prstGeom>
          <a:solidFill>
            <a:srgbClr val="D6EFE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🚧 Entry confusion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Manual checking can create queues and allow entry even when the parking area is full.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33272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373948"/>
                </a:solidFill>
                <a:latin typeface="Aptos"/>
              </a:defRPr>
            </a:pPr>
            <a:r>
              <a:t>Goal: detect slot occupancy automatically and use that information to control the entrance.</a:t>
            </a:r>
          </a:p>
          <a:p>
            <a:pPr>
              <a:spcAft>
                <a:spcPts val="900"/>
              </a:spcAft>
              <a:defRPr sz="1700">
                <a:solidFill>
                  <a:srgbClr val="373948"/>
                </a:solidFill>
                <a:latin typeface="Aptos"/>
              </a:defRPr>
            </a:pPr>
            <a:r>
              <a:t>The system should be simple enough to simulate and later implement using sensors, a controller and a gate mechanism.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8136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C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948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2514600" cy="2148840"/>
          </a:xfrm>
          <a:prstGeom prst="roundRect">
            <a:avLst/>
          </a:prstGeom>
          <a:solidFill>
            <a:srgbClr val="D3E7F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Detect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Identify whether each parking slot is occupied.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0440" y="1463040"/>
            <a:ext cx="2514600" cy="2148840"/>
          </a:xfrm>
          <a:prstGeom prst="roundRect">
            <a:avLst/>
          </a:prstGeom>
          <a:solidFill>
            <a:srgbClr val="D6EFE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Display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Show available and occupied slots clearly.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463040"/>
            <a:ext cx="2514600" cy="2148840"/>
          </a:xfrm>
          <a:prstGeom prst="roundRect">
            <a:avLst/>
          </a:prstGeom>
          <a:solidFill>
            <a:srgbClr val="FAF1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Decide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Check availability before allowing entry.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9720" y="1463040"/>
            <a:ext cx="2514600" cy="2148840"/>
          </a:xfrm>
          <a:prstGeom prst="roundRect">
            <a:avLst/>
          </a:prstGeom>
          <a:solidFill>
            <a:srgbClr val="FAE1D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Control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Open the gate only when a valid space exists.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160520"/>
            <a:ext cx="98755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73948"/>
                </a:solidFill>
                <a:latin typeface="Aptos"/>
              </a:defRPr>
            </a:pPr>
            <a:r>
              <a:t>Reduce unnecessary waiting and searching.</a:t>
            </a:r>
          </a:p>
          <a:p>
            <a:pPr>
              <a:spcAft>
                <a:spcPts val="900"/>
              </a:spcAft>
              <a:defRPr sz="1800">
                <a:solidFill>
                  <a:srgbClr val="373948"/>
                </a:solidFill>
                <a:latin typeface="Aptos"/>
              </a:defRPr>
            </a:pPr>
            <a:r>
              <a:t>Improve parking-space utilization.</a:t>
            </a:r>
          </a:p>
          <a:p>
            <a:pPr>
              <a:spcAft>
                <a:spcPts val="900"/>
              </a:spcAft>
              <a:defRPr sz="1800">
                <a:solidFill>
                  <a:srgbClr val="373948"/>
                </a:solidFill>
                <a:latin typeface="Aptos"/>
              </a:defRPr>
            </a:pPr>
            <a:r>
              <a:t>Create a clear foundation for an IoT-based real-world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8136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C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948"/>
                </a:solidFill>
                <a:latin typeface="Aptos Display"/>
              </a:defRPr>
            </a:pPr>
            <a:r>
              <a:t>Proposed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C7D"/>
                </a:solidFill>
                <a:latin typeface="Aptos"/>
              </a:defRPr>
            </a:pPr>
            <a:r>
              <a:t>Each part has one clear job, so the complete system is easy to understand and simulate.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94560"/>
            <a:ext cx="2011680" cy="868680"/>
          </a:xfrm>
          <a:prstGeom prst="roundRect">
            <a:avLst/>
          </a:prstGeom>
          <a:solidFill>
            <a:srgbClr val="D3E7F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3948"/>
                </a:solidFill>
                <a:latin typeface="Aptos"/>
              </a:defRPr>
            </a:pPr>
            <a:r>
              <a:t>Parking slots</a:t>
            </a:r>
            <a:br/>
            <a:r>
              <a:t>with sensors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2194560"/>
            <a:ext cx="2194560" cy="868680"/>
          </a:xfrm>
          <a:prstGeom prst="roundRect">
            <a:avLst/>
          </a:prstGeom>
          <a:solidFill>
            <a:srgbClr val="E1DAF5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3948"/>
                </a:solidFill>
                <a:latin typeface="Aptos"/>
              </a:defRPr>
            </a:pPr>
            <a:r>
              <a:t>Microcontroller /</a:t>
            </a:r>
            <a:br/>
            <a:r>
              <a:t>Control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417320"/>
            <a:ext cx="2011680" cy="868680"/>
          </a:xfrm>
          <a:prstGeom prst="roundRect">
            <a:avLst/>
          </a:prstGeom>
          <a:solidFill>
            <a:srgbClr val="D6EFE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3948"/>
                </a:solidFill>
                <a:latin typeface="Aptos"/>
              </a:defRPr>
            </a:pPr>
            <a:r>
              <a:t>Availability</a:t>
            </a:r>
            <a:br/>
            <a:r>
              <a:t>display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2971800"/>
            <a:ext cx="2011680" cy="868680"/>
          </a:xfrm>
          <a:prstGeom prst="roundRect">
            <a:avLst/>
          </a:prstGeom>
          <a:solidFill>
            <a:srgbClr val="FAE1D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3948"/>
                </a:solidFill>
                <a:latin typeface="Aptos"/>
              </a:defRPr>
            </a:pPr>
            <a:r>
              <a:t>Entry gate</a:t>
            </a:r>
            <a:br/>
            <a:r>
              <a:t>motor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194560"/>
            <a:ext cx="2011680" cy="868680"/>
          </a:xfrm>
          <a:prstGeom prst="roundRect">
            <a:avLst/>
          </a:prstGeom>
          <a:solidFill>
            <a:srgbClr val="FAF1C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3948"/>
                </a:solidFill>
                <a:latin typeface="Aptos"/>
              </a:defRPr>
            </a:pPr>
            <a:r>
              <a:t>Driver / User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633472"/>
            <a:ext cx="502920" cy="0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257800" y="1874519"/>
            <a:ext cx="548640" cy="640081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57800" y="2743200"/>
            <a:ext cx="548640" cy="658368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18120" y="1874519"/>
            <a:ext cx="960120" cy="594361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818120" y="2743200"/>
            <a:ext cx="960120" cy="658368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41080" y="402336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373948"/>
                </a:solidFill>
              </a:defRPr>
            </a:pPr>
            <a:r>
              <a:t>Sensors → Controller → Decision → Display / Gate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8136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C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948"/>
                </a:solidFill>
                <a:latin typeface="Aptos Display"/>
              </a:defRPr>
            </a:pPr>
            <a:r>
              <a:t>How slot detection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C7D"/>
                </a:solidFill>
                <a:latin typeface="Aptos"/>
              </a:defRPr>
            </a:pPr>
            <a:r>
              <a:t>A simple sensor state can represent the condition of each parking space.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828800" cy="1143000"/>
          </a:xfrm>
          <a:prstGeom prst="roundRect">
            <a:avLst/>
          </a:prstGeom>
          <a:solidFill>
            <a:srgbClr val="FAE1D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73948"/>
                </a:solidFill>
                <a:latin typeface="Aptos"/>
              </a:defRPr>
            </a:pPr>
            <a:r>
              <a:t>OCCUPIED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81328" y="2697480"/>
            <a:ext cx="685800" cy="347472"/>
          </a:xfrm>
          <a:prstGeom prst="roundRect">
            <a:avLst/>
          </a:prstGeom>
          <a:solidFill>
            <a:srgbClr val="D3E7F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73948"/>
                </a:solidFill>
                <a:latin typeface="Aptos"/>
              </a:defRPr>
            </a:pPr>
            <a:r>
              <a:t>Sensor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63040"/>
            <a:ext cx="1828800" cy="1143000"/>
          </a:xfrm>
          <a:prstGeom prst="roundRect">
            <a:avLst/>
          </a:prstGeom>
          <a:solidFill>
            <a:srgbClr val="D6EFE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73948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50208" y="2697480"/>
            <a:ext cx="685800" cy="347472"/>
          </a:xfrm>
          <a:prstGeom prst="roundRect">
            <a:avLst/>
          </a:prstGeom>
          <a:solidFill>
            <a:srgbClr val="D3E7F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73948"/>
                </a:solidFill>
                <a:latin typeface="Aptos"/>
              </a:defRPr>
            </a:pPr>
            <a:r>
              <a:t>Sensor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463040"/>
            <a:ext cx="1828800" cy="1143000"/>
          </a:xfrm>
          <a:prstGeom prst="roundRect">
            <a:avLst/>
          </a:prstGeom>
          <a:solidFill>
            <a:srgbClr val="D6EFE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73948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2697480"/>
            <a:ext cx="685800" cy="347472"/>
          </a:xfrm>
          <a:prstGeom prst="roundRect">
            <a:avLst/>
          </a:prstGeom>
          <a:solidFill>
            <a:srgbClr val="D3E7F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73948"/>
                </a:solidFill>
                <a:latin typeface="Aptos"/>
              </a:defRPr>
            </a:pPr>
            <a:r>
              <a:t>Sensor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463040"/>
            <a:ext cx="1828800" cy="1143000"/>
          </a:xfrm>
          <a:prstGeom prst="roundRect">
            <a:avLst/>
          </a:prstGeom>
          <a:solidFill>
            <a:srgbClr val="FAE1D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73948"/>
                </a:solidFill>
                <a:latin typeface="Aptos"/>
              </a:defRPr>
            </a:pPr>
            <a:r>
              <a:t>OCCUPIED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87968" y="2697480"/>
            <a:ext cx="685800" cy="347472"/>
          </a:xfrm>
          <a:prstGeom prst="roundRect">
            <a:avLst/>
          </a:prstGeom>
          <a:solidFill>
            <a:srgbClr val="D3E7F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73948"/>
                </a:solidFill>
                <a:latin typeface="Aptos"/>
              </a:defRPr>
            </a:pPr>
            <a:r>
              <a:t>Sensor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91840"/>
            <a:ext cx="1828800" cy="1143000"/>
          </a:xfrm>
          <a:prstGeom prst="roundRect">
            <a:avLst/>
          </a:prstGeom>
          <a:solidFill>
            <a:srgbClr val="D6EFE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73948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81328" y="4526280"/>
            <a:ext cx="685800" cy="347472"/>
          </a:xfrm>
          <a:prstGeom prst="roundRect">
            <a:avLst/>
          </a:prstGeom>
          <a:solidFill>
            <a:srgbClr val="D3E7F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73948"/>
                </a:solidFill>
                <a:latin typeface="Aptos"/>
              </a:defRPr>
            </a:pPr>
            <a:r>
              <a:t>Sensor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291840"/>
            <a:ext cx="1828800" cy="1143000"/>
          </a:xfrm>
          <a:prstGeom prst="roundRect">
            <a:avLst/>
          </a:prstGeom>
          <a:solidFill>
            <a:srgbClr val="D6EFE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73948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50208" y="4526280"/>
            <a:ext cx="685800" cy="347472"/>
          </a:xfrm>
          <a:prstGeom prst="roundRect">
            <a:avLst/>
          </a:prstGeom>
          <a:solidFill>
            <a:srgbClr val="D3E7F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73948"/>
                </a:solidFill>
                <a:latin typeface="Aptos"/>
              </a:defRPr>
            </a:pPr>
            <a:r>
              <a:t>Sensor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3291840"/>
            <a:ext cx="1828800" cy="1143000"/>
          </a:xfrm>
          <a:prstGeom prst="roundRect">
            <a:avLst/>
          </a:prstGeom>
          <a:solidFill>
            <a:srgbClr val="FAE1D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73948"/>
                </a:solidFill>
                <a:latin typeface="Aptos"/>
              </a:defRPr>
            </a:pPr>
            <a:r>
              <a:t>OCCUPIED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088" y="4526280"/>
            <a:ext cx="685800" cy="347472"/>
          </a:xfrm>
          <a:prstGeom prst="roundRect">
            <a:avLst/>
          </a:prstGeom>
          <a:solidFill>
            <a:srgbClr val="D3E7F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73948"/>
                </a:solidFill>
                <a:latin typeface="Aptos"/>
              </a:defRPr>
            </a:pPr>
            <a:r>
              <a:t>Sensor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291840"/>
            <a:ext cx="1828800" cy="1143000"/>
          </a:xfrm>
          <a:prstGeom prst="roundRect">
            <a:avLst/>
          </a:prstGeom>
          <a:solidFill>
            <a:srgbClr val="D6EFE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73948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4526280"/>
            <a:ext cx="685800" cy="347472"/>
          </a:xfrm>
          <a:prstGeom prst="roundRect">
            <a:avLst/>
          </a:prstGeom>
          <a:solidFill>
            <a:srgbClr val="D3E7F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73948"/>
                </a:solidFill>
                <a:latin typeface="Aptos"/>
              </a:defRPr>
            </a:pPr>
            <a:r>
              <a:t>Sensor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9265" y="5184860"/>
            <a:ext cx="2521131" cy="116955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373948"/>
                </a:solidFill>
                <a:latin typeface="Aptos"/>
              </a:defRPr>
            </a:pPr>
            <a:r>
              <a:rPr dirty="0"/>
              <a:t>The controller reads all slot sensors repeatedly.</a:t>
            </a:r>
          </a:p>
          <a:p>
            <a:pPr>
              <a:spcAft>
                <a:spcPts val="900"/>
              </a:spcAft>
              <a:defRPr sz="1250">
                <a:solidFill>
                  <a:srgbClr val="373948"/>
                </a:solidFill>
                <a:latin typeface="Aptos"/>
              </a:defRPr>
            </a:pPr>
            <a:r>
              <a:rPr dirty="0"/>
              <a:t>For simulation, 0/1 or LOW/HIGH can be used to represent the two states.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C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948"/>
                </a:solidFill>
                <a:latin typeface="Aptos Display"/>
              </a:defRPr>
            </a:pPr>
            <a:r>
              <a:t>Entry control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C7D"/>
                </a:solidFill>
                <a:latin typeface="Aptos"/>
              </a:defRPr>
            </a:pPr>
            <a:r>
              <a:t>The key decision is simple: Is there at least one free slot?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874519" cy="1051560"/>
          </a:xfrm>
          <a:prstGeom prst="roundRect">
            <a:avLst/>
          </a:prstGeom>
          <a:solidFill>
            <a:srgbClr val="D3E7F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73948"/>
                </a:solidFill>
                <a:latin typeface="Aptos"/>
              </a:defRPr>
            </a:pPr>
            <a:r>
              <a:t>Vehicle reaches entrance</a:t>
            </a:r>
          </a:p>
        </p:txBody>
      </p:sp>
      <p:sp>
        <p:nvSpPr>
          <p:cNvPr id="5" name="Oval 4"/>
          <p:cNvSpPr/>
          <p:nvPr/>
        </p:nvSpPr>
        <p:spPr>
          <a:xfrm>
            <a:off x="1298448" y="1234440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D3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73948"/>
                </a:solidFill>
              </a:defRPr>
            </a:pPr>
            <a: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14600" y="2450592"/>
            <a:ext cx="365760" cy="0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80360" y="1920240"/>
            <a:ext cx="1874519" cy="1051560"/>
          </a:xfrm>
          <a:prstGeom prst="roundRect">
            <a:avLst/>
          </a:prstGeom>
          <a:solidFill>
            <a:srgbClr val="E1DAF5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73948"/>
                </a:solidFill>
                <a:latin typeface="Aptos"/>
              </a:defRPr>
            </a:pPr>
            <a:r>
              <a:t>Read slot states</a:t>
            </a:r>
          </a:p>
        </p:txBody>
      </p:sp>
      <p:sp>
        <p:nvSpPr>
          <p:cNvPr id="8" name="Oval 7"/>
          <p:cNvSpPr/>
          <p:nvPr/>
        </p:nvSpPr>
        <p:spPr>
          <a:xfrm>
            <a:off x="3538728" y="1234440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E1D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73948"/>
                </a:solidFill>
              </a:defRPr>
            </a:pPr>
            <a: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54880" y="2450592"/>
            <a:ext cx="365760" cy="0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20640" y="1920240"/>
            <a:ext cx="1874519" cy="1051560"/>
          </a:xfrm>
          <a:prstGeom prst="roundRect">
            <a:avLst/>
          </a:prstGeom>
          <a:solidFill>
            <a:srgbClr val="D6EFE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73948"/>
                </a:solidFill>
                <a:latin typeface="Aptos"/>
              </a:defRPr>
            </a:pPr>
            <a:r>
              <a:t>Count available slots</a:t>
            </a:r>
          </a:p>
        </p:txBody>
      </p:sp>
      <p:sp>
        <p:nvSpPr>
          <p:cNvPr id="11" name="Oval 10"/>
          <p:cNvSpPr/>
          <p:nvPr/>
        </p:nvSpPr>
        <p:spPr>
          <a:xfrm>
            <a:off x="5779008" y="1234440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D6E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73948"/>
                </a:solidFill>
              </a:defRPr>
            </a:pPr>
            <a:r>
              <a:t>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95160" y="2450592"/>
            <a:ext cx="365760" cy="0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60920" y="1920240"/>
            <a:ext cx="1874519" cy="1051560"/>
          </a:xfrm>
          <a:prstGeom prst="roundRect">
            <a:avLst/>
          </a:prstGeom>
          <a:solidFill>
            <a:srgbClr val="FAF1C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73948"/>
                </a:solidFill>
                <a:latin typeface="Aptos"/>
              </a:defRPr>
            </a:pPr>
            <a:r>
              <a:t>If free → open gate</a:t>
            </a:r>
          </a:p>
        </p:txBody>
      </p:sp>
      <p:sp>
        <p:nvSpPr>
          <p:cNvPr id="14" name="Oval 13"/>
          <p:cNvSpPr/>
          <p:nvPr/>
        </p:nvSpPr>
        <p:spPr>
          <a:xfrm>
            <a:off x="8019288" y="1234440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AF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73948"/>
                </a:solidFill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35440" y="2450592"/>
            <a:ext cx="365760" cy="0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01200" y="1920240"/>
            <a:ext cx="1874519" cy="1051560"/>
          </a:xfrm>
          <a:prstGeom prst="roundRect">
            <a:avLst/>
          </a:prstGeom>
          <a:solidFill>
            <a:srgbClr val="FAE1D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73948"/>
                </a:solidFill>
                <a:latin typeface="Aptos"/>
              </a:defRPr>
            </a:pPr>
            <a:r>
              <a:t>If full → keep gate closed</a:t>
            </a:r>
          </a:p>
        </p:txBody>
      </p:sp>
      <p:sp>
        <p:nvSpPr>
          <p:cNvPr id="17" name="Oval 16"/>
          <p:cNvSpPr/>
          <p:nvPr/>
        </p:nvSpPr>
        <p:spPr>
          <a:xfrm>
            <a:off x="10259568" y="1234440"/>
            <a:ext cx="502920" cy="502920"/>
          </a:xfrm>
          <a:prstGeom prst="ellipse">
            <a:avLst/>
          </a:prstGeom>
          <a:solidFill>
            <a:srgbClr val="FFFFFF"/>
          </a:solidFill>
          <a:ln>
            <a:solidFill>
              <a:srgbClr val="FAE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73948"/>
                </a:solidFill>
              </a:defRPr>
            </a:pPr>
            <a: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3886200"/>
            <a:ext cx="5029200" cy="960120"/>
          </a:xfrm>
          <a:prstGeom prst="roundRect">
            <a:avLst/>
          </a:prstGeom>
          <a:solidFill>
            <a:srgbClr val="D3E7F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73948"/>
                </a:solidFill>
                <a:latin typeface="Aptos"/>
              </a:defRPr>
            </a:pPr>
            <a:r>
              <a:t>AVAILABLE &gt; 0 ?     YES → OPEN GATE     |     NO → WAIT / FULL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88136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C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948"/>
                </a:solidFill>
                <a:latin typeface="Aptos Display"/>
              </a:defRPr>
            </a:pPr>
            <a:r>
              <a:t>Flowchart of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C7D"/>
                </a:solidFill>
                <a:latin typeface="Aptos"/>
              </a:defRPr>
            </a:pPr>
            <a:r>
              <a:t>This is the logic the simulation follows for every arriving vehicle.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965960" cy="685800"/>
          </a:xfrm>
          <a:prstGeom prst="roundRect">
            <a:avLst/>
          </a:prstGeom>
          <a:solidFill>
            <a:srgbClr val="D3E7F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3948"/>
                </a:solidFill>
                <a:latin typeface="Aptos"/>
              </a:defRPr>
            </a:pPr>
            <a:r>
              <a:t>Vehicle arrives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1965960" cy="685800"/>
          </a:xfrm>
          <a:prstGeom prst="roundRect">
            <a:avLst/>
          </a:prstGeom>
          <a:solidFill>
            <a:srgbClr val="E1DAF5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3948"/>
                </a:solidFill>
                <a:latin typeface="Aptos"/>
              </a:defRPr>
            </a:pPr>
            <a:r>
              <a:t>Read sensors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1965960" cy="685800"/>
          </a:xfrm>
          <a:prstGeom prst="roundRect">
            <a:avLst/>
          </a:prstGeom>
          <a:solidFill>
            <a:srgbClr val="FAF1C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3948"/>
                </a:solidFill>
                <a:latin typeface="Aptos"/>
              </a:defRPr>
            </a:pPr>
            <a:r>
              <a:t>Any slot free?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2834640"/>
            <a:ext cx="1965960" cy="685800"/>
          </a:xfrm>
          <a:prstGeom prst="roundRect">
            <a:avLst/>
          </a:prstGeom>
          <a:solidFill>
            <a:srgbClr val="D6EFE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3948"/>
                </a:solidFill>
                <a:latin typeface="Aptos"/>
              </a:defRPr>
            </a:pPr>
            <a:r>
              <a:t>Open 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2834640"/>
            <a:ext cx="1965960" cy="685800"/>
          </a:xfrm>
          <a:prstGeom prst="roundRect">
            <a:avLst/>
          </a:prstGeom>
          <a:solidFill>
            <a:srgbClr val="D3E7F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3948"/>
                </a:solidFill>
                <a:latin typeface="Aptos"/>
              </a:defRPr>
            </a:pPr>
            <a:r>
              <a:t>Vehicle parks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4251960"/>
            <a:ext cx="1965960" cy="685800"/>
          </a:xfrm>
          <a:prstGeom prst="roundRect">
            <a:avLst/>
          </a:prstGeom>
          <a:solidFill>
            <a:srgbClr val="FAE1D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3948"/>
                </a:solidFill>
                <a:latin typeface="Aptos"/>
              </a:defRPr>
            </a:pPr>
            <a:r>
              <a:t>Show FULL / wait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4251960"/>
            <a:ext cx="1965960" cy="685800"/>
          </a:xfrm>
          <a:prstGeom prst="roundRect">
            <a:avLst/>
          </a:prstGeom>
          <a:solidFill>
            <a:srgbClr val="E1DAF5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3948"/>
                </a:solidFill>
                <a:latin typeface="Aptos"/>
              </a:defRPr>
            </a:pPr>
            <a:r>
              <a:t>Update slot status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19072" y="2103120"/>
            <a:ext cx="0" cy="411480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719072" y="3200400"/>
            <a:ext cx="0" cy="411480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697480" y="3182112"/>
            <a:ext cx="1188720" cy="768096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697480" y="3950208"/>
            <a:ext cx="1188720" cy="640080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52160" y="3182112"/>
            <a:ext cx="1188720" cy="0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28431" y="3520440"/>
            <a:ext cx="0" cy="731520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88920" y="33375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0B08B"/>
                </a:solidFill>
              </a:defRPr>
            </a:pPr>
            <a:r>
              <a:t>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7777"/>
                </a:solidFill>
              </a:defRPr>
            </a:pPr>
            <a:r>
              <a:t>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88136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C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948"/>
                </a:solidFill>
                <a:latin typeface="Aptos Display"/>
              </a:defRPr>
            </a:pPr>
            <a:r>
              <a:t>Simulation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C7D"/>
                </a:solidFill>
                <a:latin typeface="Aptos"/>
              </a:defRPr>
            </a:pPr>
            <a:r>
              <a:t>Before using real hardware, the complete decision process can be tested virtually.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37560" cy="2011680"/>
          </a:xfrm>
          <a:prstGeom prst="roundRect">
            <a:avLst/>
          </a:prstGeom>
          <a:solidFill>
            <a:srgbClr val="D3E7F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Inputs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• Slot sensor states</a:t>
            </a:r>
            <a:br/>
            <a:r>
              <a:t>• Vehicle arrival</a:t>
            </a:r>
            <a:br/>
            <a:r>
              <a:t>• Optional exit signal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417320"/>
            <a:ext cx="3337560" cy="2011680"/>
          </a:xfrm>
          <a:prstGeom prst="roundRect">
            <a:avLst/>
          </a:prstGeom>
          <a:solidFill>
            <a:srgbClr val="E1DAF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Processing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• Read inputs</a:t>
            </a:r>
            <a:br/>
            <a:r>
              <a:t>• Count free slots</a:t>
            </a:r>
            <a:br/>
            <a:r>
              <a:t>• Apply entry condition</a:t>
            </a:r>
            <a:br/>
            <a:r>
              <a:t>• Update slot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417320"/>
            <a:ext cx="3337560" cy="2011680"/>
          </a:xfrm>
          <a:prstGeom prst="roundRect">
            <a:avLst/>
          </a:prstGeom>
          <a:solidFill>
            <a:srgbClr val="D6EFE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Outputs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• Available-slot count</a:t>
            </a:r>
            <a:br/>
            <a:r>
              <a:t>• Gate OPEN/CLOSED</a:t>
            </a:r>
            <a:br/>
            <a:r>
              <a:t>• FULL message</a:t>
            </a:r>
            <a:br/>
            <a:r>
              <a:t>• Updated parking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42416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373948"/>
                </a:solidFill>
                <a:latin typeface="Aptos"/>
              </a:defRPr>
            </a:pPr>
            <a:r>
              <a:t>Example simulation: 6 slots are monitored. If 4 are occupied, the display shows 2 available and the entry gate is allowed to open.</a:t>
            </a:r>
          </a:p>
          <a:p>
            <a:pPr>
              <a:spcAft>
                <a:spcPts val="900"/>
              </a:spcAft>
              <a:defRPr sz="1600">
                <a:solidFill>
                  <a:srgbClr val="373948"/>
                </a:solidFill>
                <a:latin typeface="Aptos"/>
              </a:defRPr>
            </a:pPr>
            <a:r>
              <a:t>After a vehicle enters, the occupied count increases and the display updates.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8136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C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948"/>
                </a:solidFill>
                <a:latin typeface="Aptos Display"/>
              </a:defRPr>
            </a:pPr>
            <a:r>
              <a:t>Example simulation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C7D"/>
                </a:solidFill>
                <a:latin typeface="Aptos"/>
              </a:defRPr>
            </a:pPr>
            <a:r>
              <a:t>A small test case shows how the system responds to changing parking conditions.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64991" cy="640080"/>
          </a:xfrm>
          <a:prstGeom prst="roundRect">
            <a:avLst/>
          </a:prstGeom>
          <a:solidFill>
            <a:srgbClr val="E1DAF5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73948"/>
                </a:solidFill>
                <a:latin typeface="Aptos"/>
              </a:defRPr>
            </a:pPr>
            <a:r>
              <a:t>Situation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417320"/>
            <a:ext cx="1719072" cy="640080"/>
          </a:xfrm>
          <a:prstGeom prst="roundRect">
            <a:avLst/>
          </a:prstGeom>
          <a:solidFill>
            <a:srgbClr val="E1DAF5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73948"/>
                </a:solidFill>
                <a:latin typeface="Aptos"/>
              </a:defRPr>
            </a:pPr>
            <a:r>
              <a:t>Occupied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17320"/>
            <a:ext cx="1719072" cy="640080"/>
          </a:xfrm>
          <a:prstGeom prst="roundRect">
            <a:avLst/>
          </a:prstGeom>
          <a:solidFill>
            <a:srgbClr val="E1DAF5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73948"/>
                </a:solidFill>
                <a:latin typeface="Aptos"/>
              </a:defRPr>
            </a:pPr>
            <a:r>
              <a:t>Free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417320"/>
            <a:ext cx="1993391" cy="640080"/>
          </a:xfrm>
          <a:prstGeom prst="roundRect">
            <a:avLst/>
          </a:prstGeom>
          <a:solidFill>
            <a:srgbClr val="E1DAF5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73948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3364991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373948"/>
                </a:solidFill>
                <a:latin typeface="Aptos"/>
              </a:defRPr>
            </a:pPr>
            <a:r>
              <a:t>Initial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240280"/>
            <a:ext cx="1719072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373948"/>
                </a:solidFill>
                <a:latin typeface="Aptos"/>
              </a:defRPr>
            </a:pPr>
            <a:r>
              <a:t>3 /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240280"/>
            <a:ext cx="1719072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37394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240280"/>
            <a:ext cx="1993391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373948"/>
                </a:solidFill>
                <a:latin typeface="Aptos"/>
              </a:defRPr>
            </a:pPr>
            <a:r>
              <a:t>OPEN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40"/>
            <a:ext cx="3364991" cy="640080"/>
          </a:xfrm>
          <a:prstGeom prst="roundRect">
            <a:avLst/>
          </a:prstGeom>
          <a:solidFill>
            <a:srgbClr val="F8F6F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373948"/>
                </a:solidFill>
                <a:latin typeface="Aptos"/>
              </a:defRPr>
            </a:pPr>
            <a:r>
              <a:t>Vehicle enters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063240"/>
            <a:ext cx="1719072" cy="640080"/>
          </a:xfrm>
          <a:prstGeom prst="roundRect">
            <a:avLst/>
          </a:prstGeom>
          <a:solidFill>
            <a:srgbClr val="F8F6F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373948"/>
                </a:solidFill>
                <a:latin typeface="Aptos"/>
              </a:defRPr>
            </a:pPr>
            <a:r>
              <a:t>4 /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063240"/>
            <a:ext cx="1719072" cy="640080"/>
          </a:xfrm>
          <a:prstGeom prst="roundRect">
            <a:avLst/>
          </a:prstGeom>
          <a:solidFill>
            <a:srgbClr val="F8F6F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37394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063240"/>
            <a:ext cx="1993391" cy="640080"/>
          </a:xfrm>
          <a:prstGeom prst="roundRect">
            <a:avLst/>
          </a:prstGeom>
          <a:solidFill>
            <a:srgbClr val="F8F6F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373948"/>
                </a:solidFill>
                <a:latin typeface="Aptos"/>
              </a:defRPr>
            </a:pPr>
            <a:r>
              <a:t>OPEN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3364991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373948"/>
                </a:solidFill>
                <a:latin typeface="Aptos"/>
              </a:defRPr>
            </a:pPr>
            <a:r>
              <a:t>Two more enter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886200"/>
            <a:ext cx="1719072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373948"/>
                </a:solidFill>
                <a:latin typeface="Aptos"/>
              </a:defRPr>
            </a:pPr>
            <a:r>
              <a:t>6 / 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3886200"/>
            <a:ext cx="1719072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373948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3886200"/>
            <a:ext cx="1993391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373948"/>
                </a:solidFill>
                <a:latin typeface="Aptos"/>
              </a:defRPr>
            </a:pPr>
            <a:r>
              <a:t>CLOSED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09160"/>
            <a:ext cx="3364991" cy="640080"/>
          </a:xfrm>
          <a:prstGeom prst="roundRect">
            <a:avLst/>
          </a:prstGeom>
          <a:solidFill>
            <a:srgbClr val="F8F6F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373948"/>
                </a:solidFill>
                <a:latin typeface="Aptos"/>
              </a:defRPr>
            </a:pPr>
            <a:r>
              <a:t>One vehicle exits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709160"/>
            <a:ext cx="1719072" cy="640080"/>
          </a:xfrm>
          <a:prstGeom prst="roundRect">
            <a:avLst/>
          </a:prstGeom>
          <a:solidFill>
            <a:srgbClr val="F8F6F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373948"/>
                </a:solidFill>
                <a:latin typeface="Aptos"/>
              </a:defRPr>
            </a:pPr>
            <a:r>
              <a:t>5 / 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4709160"/>
            <a:ext cx="1719072" cy="640080"/>
          </a:xfrm>
          <a:prstGeom prst="roundRect">
            <a:avLst/>
          </a:prstGeom>
          <a:solidFill>
            <a:srgbClr val="F8F6F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37394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4709160"/>
            <a:ext cx="1993391" cy="640080"/>
          </a:xfrm>
          <a:prstGeom prst="roundRect">
            <a:avLst/>
          </a:prstGeom>
          <a:solidFill>
            <a:srgbClr val="F8F6F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373948"/>
                </a:solidFill>
                <a:latin typeface="Aptos"/>
              </a:defRPr>
            </a:pPr>
            <a:r>
              <a:t>OPEN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23560"/>
            <a:ext cx="1024128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373948"/>
                </a:solidFill>
                <a:latin typeface="Aptos"/>
              </a:defRPr>
            </a:pPr>
            <a:r>
              <a:t>This demonstrates the important idea: the gate follows the parking availability automatically instead of relying on manual checking.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8136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C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948"/>
                </a:solidFill>
                <a:latin typeface="Aptos Display"/>
              </a:defRPr>
            </a:pPr>
            <a:r>
              <a:t>Hardware and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C7D"/>
                </a:solidFill>
                <a:latin typeface="Aptos"/>
              </a:defRPr>
            </a:pPr>
            <a:r>
              <a:t>The project can start as a simulation and later be converted into a physical prototype.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383280" cy="1645920"/>
          </a:xfrm>
          <a:prstGeom prst="roundRect">
            <a:avLst/>
          </a:prstGeom>
          <a:solidFill>
            <a:srgbClr val="D3E7F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IR / Ultrasonic sensors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Detect vehicle presence.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371600"/>
            <a:ext cx="3383280" cy="1645920"/>
          </a:xfrm>
          <a:prstGeom prst="roundRect">
            <a:avLst/>
          </a:prstGeom>
          <a:solidFill>
            <a:srgbClr val="D6EFE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Arduino / ESP32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Runs the control logic.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371600"/>
            <a:ext cx="3383280" cy="1645920"/>
          </a:xfrm>
          <a:prstGeom prst="roundRect">
            <a:avLst/>
          </a:prstGeom>
          <a:solidFill>
            <a:srgbClr val="FAE1D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Servo motor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Represents the entry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520440"/>
            <a:ext cx="3383280" cy="1645920"/>
          </a:xfrm>
          <a:prstGeom prst="roundRect">
            <a:avLst/>
          </a:prstGeom>
          <a:solidFill>
            <a:srgbClr val="FAF1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LCD / LED display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Shows free slots and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520440"/>
            <a:ext cx="3383280" cy="1645920"/>
          </a:xfrm>
          <a:prstGeom prst="roundRect">
            <a:avLst/>
          </a:prstGeom>
          <a:solidFill>
            <a:srgbClr val="E1DAF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Simulation software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Tests logic before hardware.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8136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C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948"/>
                </a:solidFill>
                <a:latin typeface="Aptos Display"/>
              </a:defRPr>
            </a:pPr>
            <a:r>
              <a:t>Advantages and practical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474720" cy="1965960"/>
          </a:xfrm>
          <a:prstGeom prst="roundRect">
            <a:avLst/>
          </a:prstGeom>
          <a:solidFill>
            <a:srgbClr val="D6EFE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For drivers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Less time searching</a:t>
            </a:r>
            <a:br/>
            <a:r>
              <a:t>Clear availability information</a:t>
            </a:r>
            <a:br/>
            <a:r>
              <a:t>Smoother entry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70832" y="1417320"/>
            <a:ext cx="3474720" cy="1965960"/>
          </a:xfrm>
          <a:prstGeom prst="roundRect">
            <a:avLst/>
          </a:prstGeom>
          <a:solidFill>
            <a:srgbClr val="D3E7F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For parking operators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Better monitoring</a:t>
            </a:r>
            <a:br/>
            <a:r>
              <a:t>Reduced manual checking</a:t>
            </a:r>
            <a:br/>
            <a:r>
              <a:t>Useful occupancy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55864" y="1417320"/>
            <a:ext cx="3474720" cy="1965960"/>
          </a:xfrm>
          <a:prstGeom prst="roundRect">
            <a:avLst/>
          </a:prstGeom>
          <a:solidFill>
            <a:srgbClr val="FAF1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For the environment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Less unnecessary driving inside parking areas</a:t>
            </a:r>
            <a:br/>
            <a:r>
              <a:t>Lower idle time and congestion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1033272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373948"/>
                </a:solidFill>
                <a:latin typeface="Aptos"/>
              </a:defRPr>
            </a:pPr>
            <a:r>
              <a:t>The system is especially useful in colleges, offices, hospitals, malls and apartment complexes.</a:t>
            </a:r>
          </a:p>
          <a:p>
            <a:pPr>
              <a:spcAft>
                <a:spcPts val="900"/>
              </a:spcAft>
              <a:defRPr sz="1700">
                <a:solidFill>
                  <a:srgbClr val="373948"/>
                </a:solidFill>
                <a:latin typeface="Aptos"/>
              </a:defRPr>
            </a:pPr>
            <a:r>
              <a:t>It can be expanded later with reservation, mobile notifications and cloud monitoring.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C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948"/>
                </a:solidFill>
                <a:latin typeface="Aptos Display"/>
              </a:defRPr>
            </a:pPr>
            <a:r>
              <a:t>Limitations and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C7D"/>
                </a:solidFill>
                <a:latin typeface="Aptos"/>
              </a:defRPr>
            </a:pPr>
            <a:r>
              <a:t>A good prototype should also recognize what can be improved in the next version.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074920" cy="2148840"/>
          </a:xfrm>
          <a:prstGeom prst="roundRect">
            <a:avLst/>
          </a:prstGeom>
          <a:solidFill>
            <a:srgbClr val="FAE1D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Current limitations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• Sensor readings can be affected by placement and surroundings.</a:t>
            </a:r>
            <a:br/>
            <a:r>
              <a:t>• A basic prototype may not identify vehicles individually.</a:t>
            </a:r>
            <a:br/>
            <a:r>
              <a:t>• Network-based features need additional connectivity.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371600"/>
            <a:ext cx="5074920" cy="2148840"/>
          </a:xfrm>
          <a:prstGeom prst="roundRect">
            <a:avLst/>
          </a:prstGeom>
          <a:solidFill>
            <a:srgbClr val="D3E7F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373948"/>
                </a:solidFill>
                <a:latin typeface="Aptos Display"/>
              </a:defRPr>
            </a:pPr>
            <a:r>
              <a:t>Future scope</a:t>
            </a:r>
          </a:p>
          <a:p>
            <a:pPr>
              <a:defRPr sz="1250">
                <a:solidFill>
                  <a:srgbClr val="373948"/>
                </a:solidFill>
                <a:latin typeface="Aptos"/>
              </a:defRPr>
            </a:pPr>
            <a:r>
              <a:t>• Mobile app with live slot map</a:t>
            </a:r>
            <a:br/>
            <a:r>
              <a:t>• Vehicle/number-plate identification</a:t>
            </a:r>
            <a:br/>
            <a:r>
              <a:t>• Online booking and digital payments</a:t>
            </a:r>
            <a:br/>
            <a:r>
              <a:t>• Cloud dashboard and usage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3327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373948"/>
                </a:solidFill>
                <a:latin typeface="Aptos"/>
              </a:defRPr>
            </a:pPr>
            <a:r>
              <a:t>The core idea remains the same: sense → process → decide → control.</a:t>
            </a:r>
          </a:p>
          <a:p>
            <a:pPr>
              <a:spcAft>
                <a:spcPts val="900"/>
              </a:spcAft>
              <a:defRPr sz="1700">
                <a:solidFill>
                  <a:srgbClr val="373948"/>
                </a:solidFill>
                <a:latin typeface="Aptos"/>
              </a:defRPr>
            </a:pPr>
            <a:r>
              <a:t>Adding connectivity and analytics can turn the prototype into a more complete smart-parking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C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D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73948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6C7D"/>
                </a:solidFill>
                <a:latin typeface="Aptos"/>
              </a:defRPr>
            </a:pPr>
            <a:r>
              <a:t>A small automation idea can solve a very familiar everyday problem.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57400"/>
            <a:ext cx="2103120" cy="914400"/>
          </a:xfrm>
          <a:prstGeom prst="roundRect">
            <a:avLst/>
          </a:prstGeom>
          <a:solidFill>
            <a:srgbClr val="D3E7F6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3948"/>
                </a:solidFill>
                <a:latin typeface="Aptos"/>
              </a:defRPr>
            </a:pPr>
            <a:r>
              <a:t>Detect</a:t>
            </a:r>
            <a:br/>
            <a:r>
              <a:t>parking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057400"/>
            <a:ext cx="2103120" cy="914400"/>
          </a:xfrm>
          <a:prstGeom prst="roundRect">
            <a:avLst/>
          </a:prstGeom>
          <a:solidFill>
            <a:srgbClr val="D6EFE4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3948"/>
                </a:solidFill>
                <a:latin typeface="Aptos"/>
              </a:defRPr>
            </a:pPr>
            <a:r>
              <a:t>Process</a:t>
            </a:r>
            <a:br/>
            <a:r>
              <a:t>information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57400"/>
            <a:ext cx="2103120" cy="914400"/>
          </a:xfrm>
          <a:prstGeom prst="roundRect">
            <a:avLst/>
          </a:prstGeom>
          <a:solidFill>
            <a:srgbClr val="FAE1D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3948"/>
                </a:solidFill>
                <a:latin typeface="Aptos"/>
              </a:defRPr>
            </a:pPr>
            <a:r>
              <a:t>Control</a:t>
            </a:r>
            <a:br/>
            <a:r>
              <a:t>entry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057400"/>
            <a:ext cx="2103120" cy="914400"/>
          </a:xfrm>
          <a:prstGeom prst="roundRect">
            <a:avLst/>
          </a:prstGeom>
          <a:solidFill>
            <a:srgbClr val="FAF1C7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73948"/>
                </a:solidFill>
                <a:latin typeface="Aptos"/>
              </a:defRPr>
            </a:pPr>
            <a:r>
              <a:t>Update</a:t>
            </a:r>
            <a:br/>
            <a:r>
              <a:t>availability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2514600"/>
            <a:ext cx="640080" cy="0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2514600"/>
            <a:ext cx="640080" cy="0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03920" y="2514600"/>
            <a:ext cx="640080" cy="0"/>
          </a:xfrm>
          <a:prstGeom prst="line">
            <a:avLst/>
          </a:prstGeom>
          <a:ln w="25400">
            <a:solidFill>
              <a:srgbClr val="69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97280" y="3886200"/>
            <a:ext cx="996696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73948"/>
                </a:solidFill>
                <a:latin typeface="Aptos"/>
              </a:defRPr>
            </a:pPr>
            <a:r>
              <a:t>The proposed system combines sensors, simple decision logic and automatic gate control.</a:t>
            </a:r>
          </a:p>
          <a:p>
            <a:pPr>
              <a:spcAft>
                <a:spcPts val="900"/>
              </a:spcAft>
              <a:defRPr sz="1800">
                <a:solidFill>
                  <a:srgbClr val="373948"/>
                </a:solidFill>
                <a:latin typeface="Aptos"/>
              </a:defRPr>
            </a:pPr>
            <a:r>
              <a:t>Simulation helps verify the system before investing in physical hardware.</a:t>
            </a:r>
          </a:p>
          <a:p>
            <a:pPr>
              <a:spcAft>
                <a:spcPts val="900"/>
              </a:spcAft>
              <a:defRPr sz="1800">
                <a:solidFill>
                  <a:srgbClr val="373948"/>
                </a:solidFill>
                <a:latin typeface="Aptos"/>
              </a:defRPr>
            </a:pPr>
            <a:r>
              <a:t>Overall, it makes parking more organized, transparent and convenient.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8136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C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73948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063240"/>
            <a:ext cx="8503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696C7D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4663440"/>
            <a:ext cx="1371600" cy="685800"/>
          </a:xfrm>
          <a:prstGeom prst="roundRect">
            <a:avLst/>
          </a:prstGeom>
          <a:solidFill>
            <a:srgbClr val="D3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373948"/>
                </a:solidFill>
              </a:defRPr>
            </a:pPr>
            <a:r>
              <a:t>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4663440"/>
            <a:ext cx="1371600" cy="685800"/>
          </a:xfrm>
          <a:prstGeom prst="roundRect">
            <a:avLst/>
          </a:prstGeom>
          <a:solidFill>
            <a:srgbClr val="D6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373948"/>
                </a:solidFill>
              </a:defRPr>
            </a:pPr>
            <a:r>
              <a:t>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4663440"/>
            <a:ext cx="1371600" cy="685800"/>
          </a:xfrm>
          <a:prstGeom prst="roundRect">
            <a:avLst/>
          </a:prstGeom>
          <a:solidFill>
            <a:srgbClr val="FAE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373948"/>
                </a:solidFill>
              </a:defRPr>
            </a:pPr>
            <a:r>
              <a:t>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1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C7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918</Words>
  <Application>Microsoft Office PowerPoint</Application>
  <PresentationFormat>Widescreen</PresentationFormat>
  <Paragraphs>169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Hasini Reddy</cp:lastModifiedBy>
  <cp:revision>2</cp:revision>
  <dcterms:created xsi:type="dcterms:W3CDTF">2013-01-27T09:14:16Z</dcterms:created>
  <dcterms:modified xsi:type="dcterms:W3CDTF">2026-09-19T07:50:06Z</dcterms:modified>
  <cp:category/>
</cp:coreProperties>
</file>